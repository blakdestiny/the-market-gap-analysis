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High Protein + Low Sugar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F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8A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8A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8A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8A3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Cookies/
Biscuits</c:v>
                  </c:pt>
                  <c:pt idx="1">
                    <c:v>Chocolate/
Candy</c:v>
                  </c:pt>
                  <c:pt idx="2">
                    <c:v>Chips/
Crisps</c:v>
                  </c:pt>
                  <c:pt idx="3">
                    <c:v>Crackers</c:v>
                  </c:pt>
                  <c:pt idx="4">
                    <c:v>Bars</c:v>
                  </c:pt>
                  <c:pt idx="5">
                    <c:v>Other</c:v>
                  </c:pt>
                  <c:pt idx="6">
                    <c:v>Cereal/
Granola</c:v>
                  </c:pt>
                  <c:pt idx="7">
                    <c:v>Nuts/
Seeds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5.5</c:v>
                </c:pt>
                <c:pt idx="1">
                  <c:v>7.7</c:v>
                </c:pt>
                <c:pt idx="2">
                  <c:v>25.7</c:v>
                </c:pt>
                <c:pt idx="3">
                  <c:v>27.5</c:v>
                </c:pt>
                <c:pt idx="4">
                  <c:v>35.6</c:v>
                </c:pt>
                <c:pt idx="5">
                  <c:v>48.1</c:v>
                </c:pt>
                <c:pt idx="6">
                  <c:v>68.4</c:v>
                </c:pt>
                <c:pt idx="7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A1F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1F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6A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6A5C"/>
                    </a:solidFill>
                    <a:latin typeface="Arial"/>
                  </a:rPr>
                  <a:t>% of category in target quadrant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Nutri-Score A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F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Protein
+ Low Sugar</c:v>
                  </c:pt>
                  <c:pt idx="1">
                    <c:v>High Protein
+ High Sugar</c:v>
                  </c:pt>
                  <c:pt idx="2">
                    <c:v>Low Protein
+ High Sugar</c:v>
                  </c:pt>
                  <c:pt idx="3">
                    <c:v>Low Protein
+ Low Sugar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23.5</c:v>
                </c:pt>
                <c:pt idx="1">
                  <c:v>0.7</c:v>
                </c:pt>
                <c:pt idx="2">
                  <c:v>0.1</c:v>
                </c:pt>
                <c:pt idx="3">
                  <c:v>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Nutri-Score E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F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Protein
+ Low Sugar</c:v>
                  </c:pt>
                  <c:pt idx="1">
                    <c:v>High Protein
+ High Sugar</c:v>
                  </c:pt>
                  <c:pt idx="2">
                    <c:v>Low Protein
+ High Sugar</c:v>
                  </c:pt>
                  <c:pt idx="3">
                    <c:v>Low Protein
+ Low Sugar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</c:v>
                </c:pt>
                <c:pt idx="1">
                  <c:v>55.8</c:v>
                </c:pt>
                <c:pt idx="2">
                  <c:v>70.8</c:v>
                </c:pt>
                <c:pt idx="3">
                  <c:v>11.3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A1F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1F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1F1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SUGAR TRAP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Gap Analysis of the Snack Aisle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Helix CPG Partners  •  Healthy Snacking Line Opportunity Assessment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320040" cy="3200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645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320040" cy="3200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4645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4663440"/>
            <a:ext cx="320040" cy="320040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4645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Blue Ocean in the Snack Aisle?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client believes the snack market is oversaturated with sugary treats — but lacked the data to prove where the specific gaps 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F7F3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514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were asked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 categories where consumer demand for health (High Protein, High Fiber) is not met by current offerings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gap using real product data, not assumptions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one concrete product direction the R&amp;D team can act 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2286000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3D2B1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2743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8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58952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products analyzed from the Open Food Facts global 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 Food Facts CSV export, filtered to snack-relevant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12.6GB of Raw Data to a Clean Signal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Filter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read of the full export (100k rows at a time), keeping only snack-relevant categories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72968" y="180136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missing macros, coerced to numeric, bounded to 0–100g, removed duplicates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07608" y="180136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Keyword-matched into 7 readable buckets from messy category tags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42248" y="180136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502920" cy="502920"/>
          </a:xfrm>
          <a:prstGeom prst="ellipse">
            <a:avLst/>
          </a:prstGeom>
          <a:solidFill>
            <a:srgbClr val="3D2B1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5256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&amp; Compare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926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median sugar/protein; cross-tabbed against category and Nutri-Score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7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370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nutrient value is per-100g; a value above 100 is a data-entry error, not a real product. Bounding and coercing these fields before analysis was essential — an early check caught a large batch of string-typed nutrient columns that would have silently broken every downstream comparison.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Big Categories, Almost No Healthy Option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products in the “High Protein + Low Sugar” quadrant, by category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5448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3D2B1F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28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8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93,961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36676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Chocolate/Candy products in the dataset — the largest snack category, and one of the least healthy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66760" y="3749040"/>
            <a:ext cx="2971800" cy="0"/>
          </a:xfrm>
          <a:prstGeom prst="line">
            <a:avLst/>
          </a:prstGeom>
          <a:noFill/>
          <a:ln w="12700">
            <a:solidFill>
              <a:srgbClr val="5A43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3931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366760" y="4572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Chocolate/Candy products are both high-protein and low-sugar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66760" y="5623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+ low healthy-share = the opportunity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5A433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4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Chocolate/Candy product targeting ~10g of protein and less than 8g of sugar per 100g.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46342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703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93,961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Chocolate/Candy products — largest snack category by volume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34290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46342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703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7,278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46177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products already hit this target profile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4290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463424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703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9.7g / 7.9g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3880" y="46177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protein / sugar among those “winner” products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Validation: Nutri-Score Agrees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products earning Nutri-Score A vs. E, by quadrant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54480"/>
            <a:ext cx="3246120" cy="4663440"/>
          </a:xfrm>
          <a:prstGeom prst="roundRect">
            <a:avLst>
              <a:gd name="adj" fmla="val 2254"/>
            </a:avLst>
          </a:prstGeom>
          <a:solidFill>
            <a:srgbClr val="F7F3EE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828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595360" y="26060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score a Nutri-Score A in the High Protein + Low Sugar quadrant than any other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95360" y="4206240"/>
            <a:ext cx="2788920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43891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~32% of this quadrant still scores D or E — protein and sugar targets alone don’t guarantee a top score. Saturated fat and additives still need attention in formulation.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Gem: What’s Actually Driving the Protein?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ingredient sources across high-protein snack products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1488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protein source — plant-based, widely used already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7F3EE"/>
          </a:solidFill>
          <a:ln/>
        </p:spPr>
      </p:sp>
      <p:sp>
        <p:nvSpPr>
          <p:cNvPr id="11" name="Shape 9"/>
          <p:cNvSpPr/>
          <p:nvPr/>
        </p:nvSpPr>
        <p:spPr>
          <a:xfrm>
            <a:off x="5600700" y="2148840"/>
            <a:ext cx="640080" cy="640080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2" name="Text 10"/>
          <p:cNvSpPr/>
          <p:nvPr/>
        </p:nvSpPr>
        <p:spPr>
          <a:xfrm>
            <a:off x="56007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8056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 common — doubles as a fiber and texture source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3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Protein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3816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— dairy-based, familiar to consumers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3D2B1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492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path: a soy- or oat-based protein boost — not pure whey isolate — is both common and commercially proven in this space.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Chocolate/Candy — largest category, only 7.7% High Protein + Low Sugar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~10g protein, &lt;8g sugar per 100g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 — 4x more A-ratings in this quadrant vs. others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Path: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or oat-based protein, not whey isolate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698480" cy="0"/>
          </a:xfrm>
          <a:prstGeom prst="line">
            <a:avLst/>
          </a:prstGeom>
          <a:noFill/>
          <a:ln w="12700">
            <a:solidFill>
              <a:srgbClr val="5A4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Helix CPG Partners — Strategic Food &amp; Beverage Consultancy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Open Food Facts (openfoodfacts.org)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2026-07-13T22:21:06Z</dcterms:created>
  <dcterms:modified xsi:type="dcterms:W3CDTF">2026-07-13T22:21:06Z</dcterms:modified>
</cp:coreProperties>
</file>